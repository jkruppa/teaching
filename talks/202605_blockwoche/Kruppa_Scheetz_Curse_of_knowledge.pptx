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66" r:id="rId5"/>
    <p:sldId id="278" r:id="rId6"/>
    <p:sldId id="277" r:id="rId7"/>
    <p:sldId id="268" r:id="rId8"/>
    <p:sldId id="276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67" r:id="rId17"/>
    <p:sldId id="279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15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3D0A1-D78F-B944-BA2C-5BE1276A62B2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B57EE-9786-734A-ABD9-B1218725A3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5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B57EE-9786-734A-ABD9-B1218725A3B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4363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4F83E-1553-0276-9C24-8424A85C9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E0DEE4-0412-2E95-3CF7-DD85CF471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C6561D-478E-5AE5-42D5-0AA8A7A6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50D25D-354C-0524-E15B-DA4B9BB9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F2D47F-AB5C-9752-F158-AA88D92F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792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69609-14F6-8767-33FF-8B16FAD0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4BABA6-D647-6F9D-85ED-20824733A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16A796-A3D2-4E30-D3BA-6D646858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F3981A-3D0E-7A9C-1738-7D44A19E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44E114-7E26-7A26-A2CD-26331E9B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03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7D177-F8E7-FC5E-BDE9-C6B04CA0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CB030F-AAC1-2518-0521-E9F7DCAFC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EAF90F-A091-2E95-80E5-5788BA213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1EE5AF-F076-7B60-C849-3CC03AA51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B350BF-0146-4F9F-F471-65C38886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207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D7B44A-D560-2C10-0A9D-91FC621F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A6AA40-A06A-B442-4A4B-99F301114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EE1313-E21B-DF36-411F-B81C05D42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1FBD0B-F47B-91F1-9F87-C105CAE6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F3DA5E-47B1-682B-6A64-B9943E1D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320173-4852-95A7-C0CF-FE311538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750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CBC9C7-AED4-0666-130E-7CA0BF9E1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6764F4-8891-ACC4-2AD7-CB989D05F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4A3679-A994-3E05-61FD-085EE1C6F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ACB4C0-D6B0-694A-3E58-DA820A497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91AF0C9-AED4-6106-32C6-481E49012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ABC18B1-0F8C-E97A-3CF0-10A22CF1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5EA264F-70C2-184A-8FA6-77FA0B19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4A97CDA-9E0F-A854-32D9-5D22E0DB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7265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EB41D2-0154-4326-9763-B2695DF64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E429AF-A0FC-A23D-F758-5B7DF756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E9556F-8A72-54D8-FFF6-5211DDFDB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0C44C3-0317-3923-0AB1-96BE5EFB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569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69CEE5-2C91-D8ED-DCF3-EB0047C8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3E94B56-19AB-F62A-8374-9AE7EB4A8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00C427-190D-D868-7599-0EA508BA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86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E97A9F-33A1-45C8-B339-10D054A9D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99D64E-879D-A5EB-199D-626E76EA5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2058AD-7965-450A-D53F-3BAC0C4FB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26E39C-159B-CF92-BC97-030208E1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CE0FD2-BE6E-1381-6E96-E0848FB40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1EA6BF-55E0-7D0D-A570-E182685F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277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CDC5EB-190C-B118-EBF8-71D7903A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8273F8A-EB7F-6D96-C124-3CAEFAC78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39FB01-F15C-879C-76CB-46D75C8BF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E5ABE5-3A7F-EB71-E51F-D76D9FA61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451036-AFBB-C20C-786B-E1FBC466B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CA322F-0048-B7F7-9612-560AD92B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3937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2EE7F-4EA2-9C80-F489-DC8523D6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FFC66E4-A1E5-206F-6E90-73DD29627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15C367-ECAB-8ADF-C8C2-A50ABBA76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4A3F56-A60F-A9CC-1660-CE2BE3D0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DC6AFC-4BC2-0FD1-7DFC-2BA332F8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48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AFF4E75-5877-04EB-5631-54119532B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6A0B2A-9EEA-879F-F188-AD684D742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E8230F-EBA5-5825-1857-724F10823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6769DB-7695-8798-A0AB-F8CB9B177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C5F233-046A-739A-2E1C-F5ED00071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3604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A2AEBAE-4305-4F9E-04B6-A9557043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C65F56-C4B8-1A23-A198-49653B3A1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78591C-8244-E423-0724-E71B5FBE9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2D9D7-34EC-47D5-AEAE-AF311B3F0586}" type="datetimeFigureOut">
              <a:rPr lang="de-DE" smtClean="0"/>
              <a:t>19.05.26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EBCAD5-3C49-6EBC-C6F9-F60E0F1FC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93CEAF-CCDC-65FE-917C-FA2D57F82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DC9D9-82D5-43E2-A58E-507BEA081C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693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E395E92-E300-1D1B-9A93-6790B1E8C837}"/>
              </a:ext>
            </a:extLst>
          </p:cNvPr>
          <p:cNvSpPr txBox="1"/>
          <p:nvPr/>
        </p:nvSpPr>
        <p:spPr>
          <a:xfrm>
            <a:off x="3880430" y="583345"/>
            <a:ext cx="7160357" cy="4164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Curse of knowledge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Jochen Kruppa-Scheetz</a:t>
            </a: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93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73AFE-B539-1DB3-9825-A48508F0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A21ECC6-95F5-1B96-AE53-FB7BCAC23267}"/>
              </a:ext>
            </a:extLst>
          </p:cNvPr>
          <p:cNvSpPr txBox="1"/>
          <p:nvPr/>
        </p:nvSpPr>
        <p:spPr>
          <a:xfrm>
            <a:off x="242910" y="1598246"/>
            <a:ext cx="4626709" cy="51229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Want to be an expert, even though you're not?</a:t>
            </a:r>
            <a:endParaRPr lang="en-US" sz="6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62AB6BA-08A9-CA8D-881D-B04A69638E82}"/>
              </a:ext>
            </a:extLst>
          </p:cNvPr>
          <p:cNvSpPr txBox="1"/>
          <p:nvPr/>
        </p:nvSpPr>
        <p:spPr>
          <a:xfrm>
            <a:off x="5792994" y="1590840"/>
            <a:ext cx="5672176" cy="5095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4400" b="1" i="1" dirty="0">
                <a:solidFill>
                  <a:srgbClr val="FFFFFF"/>
                </a:solidFill>
              </a:rPr>
              <a:t>That’s the hook to keep you hooked…</a:t>
            </a:r>
            <a:endParaRPr lang="en-US" sz="4400" b="1" i="1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15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57ED9-2C1F-05D7-6622-071E08A83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E2E8FE-B87B-430D-9722-167B5E2C2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Rectangle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Zwei Personen, die einander die Hände halten">
            <a:extLst>
              <a:ext uri="{FF2B5EF4-FFF2-40B4-BE49-F238E27FC236}">
                <a16:creationId xmlns:a16="http://schemas.microsoft.com/office/drawing/2014/main" id="{C078E5A4-ED14-3A3E-52FD-E495F1D674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7664" b="8067"/>
          <a:stretch>
            <a:fillRect/>
          </a:stretch>
        </p:blipFill>
        <p:spPr>
          <a:xfrm>
            <a:off x="20" y="10"/>
            <a:ext cx="12191981" cy="685798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1CE0338-696A-4116-174F-818B2488FADA}"/>
              </a:ext>
            </a:extLst>
          </p:cNvPr>
          <p:cNvSpPr txBox="1"/>
          <p:nvPr/>
        </p:nvSpPr>
        <p:spPr>
          <a:xfrm>
            <a:off x="242910" y="1598246"/>
            <a:ext cx="4626709" cy="51229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older you get, the more stupid everyone becomes.</a:t>
            </a:r>
            <a:endParaRPr lang="en-US" sz="68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96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A2C22-A270-85FD-0493-00D2C7DFC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72B9A134-5191-5D42-086F-0166D9590AAE}"/>
              </a:ext>
            </a:extLst>
          </p:cNvPr>
          <p:cNvCxnSpPr>
            <a:cxnSpLocks/>
          </p:cNvCxnSpPr>
          <p:nvPr/>
        </p:nvCxnSpPr>
        <p:spPr>
          <a:xfrm flipV="1">
            <a:off x="4320265" y="4942589"/>
            <a:ext cx="444190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F1F998CC-D4B4-9C78-BBAE-09B35301AC9D}"/>
              </a:ext>
            </a:extLst>
          </p:cNvPr>
          <p:cNvSpPr txBox="1"/>
          <p:nvPr/>
        </p:nvSpPr>
        <p:spPr>
          <a:xfrm>
            <a:off x="6189952" y="4990089"/>
            <a:ext cx="70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A71E882-75C9-9073-2953-E50DCD781390}"/>
              </a:ext>
            </a:extLst>
          </p:cNvPr>
          <p:cNvSpPr txBox="1"/>
          <p:nvPr/>
        </p:nvSpPr>
        <p:spPr>
          <a:xfrm rot="16200000">
            <a:off x="3796415" y="3150138"/>
            <a:ext cx="1310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Knowledge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06052EC-A072-C3C9-E05F-745F4899ACD5}"/>
              </a:ext>
            </a:extLst>
          </p:cNvPr>
          <p:cNvCxnSpPr>
            <a:cxnSpLocks/>
          </p:cNvCxnSpPr>
          <p:nvPr/>
        </p:nvCxnSpPr>
        <p:spPr>
          <a:xfrm>
            <a:off x="4680820" y="3659572"/>
            <a:ext cx="3958682" cy="7242"/>
          </a:xfrm>
          <a:prstGeom prst="straightConnector1">
            <a:avLst/>
          </a:prstGeom>
          <a:ln w="47625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E8B43D05-650E-3CBB-500B-B747B041B4FE}"/>
              </a:ext>
            </a:extLst>
          </p:cNvPr>
          <p:cNvSpPr txBox="1"/>
          <p:nvPr/>
        </p:nvSpPr>
        <p:spPr>
          <a:xfrm>
            <a:off x="5711378" y="3695211"/>
            <a:ext cx="202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Novice knowledge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0707E08-475B-FC7E-6BDC-A8CDF32F3099}"/>
              </a:ext>
            </a:extLst>
          </p:cNvPr>
          <p:cNvCxnSpPr>
            <a:cxnSpLocks/>
          </p:cNvCxnSpPr>
          <p:nvPr/>
        </p:nvCxnSpPr>
        <p:spPr>
          <a:xfrm flipV="1">
            <a:off x="4680820" y="1929751"/>
            <a:ext cx="3958682" cy="1737063"/>
          </a:xfrm>
          <a:prstGeom prst="straightConnector1">
            <a:avLst/>
          </a:prstGeom>
          <a:ln w="47625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625E77DB-67D9-876C-E115-4FE8794F6215}"/>
              </a:ext>
            </a:extLst>
          </p:cNvPr>
          <p:cNvSpPr txBox="1"/>
          <p:nvPr/>
        </p:nvSpPr>
        <p:spPr>
          <a:xfrm rot="20180334">
            <a:off x="5666772" y="2075804"/>
            <a:ext cx="202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Expert knowledge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EE4FEBF-F77E-E4BB-4A23-0F9496C33EC3}"/>
              </a:ext>
            </a:extLst>
          </p:cNvPr>
          <p:cNvCxnSpPr>
            <a:cxnSpLocks/>
          </p:cNvCxnSpPr>
          <p:nvPr/>
        </p:nvCxnSpPr>
        <p:spPr>
          <a:xfrm flipH="1" flipV="1">
            <a:off x="4680820" y="1494853"/>
            <a:ext cx="1" cy="367990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99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42423-4B4D-A537-44EA-2150A229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65F3770-20F6-73B5-50CA-D70CC451C005}"/>
              </a:ext>
            </a:extLst>
          </p:cNvPr>
          <p:cNvCxnSpPr/>
          <p:nvPr/>
        </p:nvCxnSpPr>
        <p:spPr>
          <a:xfrm flipV="1">
            <a:off x="4524152" y="4819022"/>
            <a:ext cx="444190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4EBB9031-4201-F560-AC08-2411E58520DC}"/>
              </a:ext>
            </a:extLst>
          </p:cNvPr>
          <p:cNvSpPr txBox="1"/>
          <p:nvPr/>
        </p:nvSpPr>
        <p:spPr>
          <a:xfrm>
            <a:off x="6393839" y="4866522"/>
            <a:ext cx="702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CCC7F1B-A07C-A126-1CF2-1357E47689BC}"/>
              </a:ext>
            </a:extLst>
          </p:cNvPr>
          <p:cNvSpPr txBox="1"/>
          <p:nvPr/>
        </p:nvSpPr>
        <p:spPr>
          <a:xfrm rot="16200000">
            <a:off x="4000302" y="3026571"/>
            <a:ext cx="1310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Knowledge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9D000AC-233B-10C4-D83D-37FEF50CF7CE}"/>
              </a:ext>
            </a:extLst>
          </p:cNvPr>
          <p:cNvCxnSpPr>
            <a:cxnSpLocks/>
          </p:cNvCxnSpPr>
          <p:nvPr/>
        </p:nvCxnSpPr>
        <p:spPr>
          <a:xfrm>
            <a:off x="4884707" y="3536005"/>
            <a:ext cx="3958682" cy="1060709"/>
          </a:xfrm>
          <a:prstGeom prst="straightConnector1">
            <a:avLst/>
          </a:prstGeom>
          <a:ln w="47625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288B50D1-8E2A-C4DB-A13A-CC788C6380B9}"/>
              </a:ext>
            </a:extLst>
          </p:cNvPr>
          <p:cNvSpPr txBox="1"/>
          <p:nvPr/>
        </p:nvSpPr>
        <p:spPr>
          <a:xfrm>
            <a:off x="5605161" y="4019531"/>
            <a:ext cx="202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Novice knowledge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ED03866-FFE6-50A6-A287-9C7B2A43399A}"/>
              </a:ext>
            </a:extLst>
          </p:cNvPr>
          <p:cNvCxnSpPr>
            <a:cxnSpLocks/>
          </p:cNvCxnSpPr>
          <p:nvPr/>
        </p:nvCxnSpPr>
        <p:spPr>
          <a:xfrm flipV="1">
            <a:off x="4884707" y="3211237"/>
            <a:ext cx="3942426" cy="332010"/>
          </a:xfrm>
          <a:prstGeom prst="straightConnector1">
            <a:avLst/>
          </a:prstGeom>
          <a:ln w="47625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8205435C-BC47-03D5-6E5D-EB1BD6CC4A0A}"/>
              </a:ext>
            </a:extLst>
          </p:cNvPr>
          <p:cNvSpPr txBox="1"/>
          <p:nvPr/>
        </p:nvSpPr>
        <p:spPr>
          <a:xfrm rot="21295492">
            <a:off x="6260803" y="2670201"/>
            <a:ext cx="2020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Expert knowledge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671AA96-D533-41E5-4AFD-828309CA9068}"/>
              </a:ext>
            </a:extLst>
          </p:cNvPr>
          <p:cNvCxnSpPr/>
          <p:nvPr/>
        </p:nvCxnSpPr>
        <p:spPr>
          <a:xfrm flipH="1" flipV="1">
            <a:off x="4884707" y="1371286"/>
            <a:ext cx="1" cy="367990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961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88C86-7DF2-055E-406D-37C777A4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603158C-8B3D-6A8A-0D1C-F214682D1426}"/>
              </a:ext>
            </a:extLst>
          </p:cNvPr>
          <p:cNvSpPr txBox="1"/>
          <p:nvPr/>
        </p:nvSpPr>
        <p:spPr>
          <a:xfrm>
            <a:off x="2896018" y="1598410"/>
            <a:ext cx="515073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>
                <a:solidFill>
                  <a:schemeClr val="bg1"/>
                </a:solidFill>
              </a:rPr>
              <a:t>The </a:t>
            </a:r>
            <a:r>
              <a:rPr lang="de-DE" sz="4400" b="1" dirty="0" err="1">
                <a:solidFill>
                  <a:schemeClr val="bg1"/>
                </a:solidFill>
              </a:rPr>
              <a:t>curse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of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efficiency</a:t>
            </a:r>
            <a:r>
              <a:rPr lang="de-DE" sz="4400" b="1" dirty="0">
                <a:solidFill>
                  <a:schemeClr val="bg1"/>
                </a:solidFill>
              </a:rPr>
              <a:t>…</a:t>
            </a:r>
          </a:p>
          <a:p>
            <a:pPr algn="ctr"/>
            <a:endParaRPr lang="de-DE" sz="4400" b="1" dirty="0">
              <a:solidFill>
                <a:schemeClr val="bg1"/>
              </a:solidFill>
            </a:endParaRPr>
          </a:p>
          <a:p>
            <a:pPr algn="ctr"/>
            <a:r>
              <a:rPr lang="de-DE" sz="4400" b="1" dirty="0">
                <a:solidFill>
                  <a:schemeClr val="bg1"/>
                </a:solidFill>
              </a:rPr>
              <a:t>(</a:t>
            </a:r>
            <a:r>
              <a:rPr lang="de-DE" sz="4400" b="1" dirty="0" err="1">
                <a:solidFill>
                  <a:schemeClr val="bg1"/>
                </a:solidFill>
              </a:rPr>
              <a:t>as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if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that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weren’t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enough</a:t>
            </a:r>
            <a:r>
              <a:rPr lang="de-DE" sz="4400" b="1" dirty="0">
                <a:solidFill>
                  <a:schemeClr val="bg1"/>
                </a:solidFill>
              </a:rPr>
              <a:t>)</a:t>
            </a:r>
            <a:endParaRPr lang="de-DE" sz="3200" i="1" dirty="0">
              <a:solidFill>
                <a:schemeClr val="bg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3C0FB1E-D3A3-AFB9-1290-89EA58B73A4B}"/>
              </a:ext>
            </a:extLst>
          </p:cNvPr>
          <p:cNvSpPr txBox="1"/>
          <p:nvPr/>
        </p:nvSpPr>
        <p:spPr>
          <a:xfrm>
            <a:off x="8601035" y="4214511"/>
            <a:ext cx="17689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20x</a:t>
            </a:r>
            <a:endParaRPr lang="de-DE" sz="7200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5603A5F-E2D5-6FD2-9F5A-D8B1496BECF3}"/>
              </a:ext>
            </a:extLst>
          </p:cNvPr>
          <p:cNvSpPr txBox="1"/>
          <p:nvPr/>
        </p:nvSpPr>
        <p:spPr>
          <a:xfrm>
            <a:off x="7768961" y="3132045"/>
            <a:ext cx="1290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 large </a:t>
            </a:r>
            <a:r>
              <a:rPr lang="de-DE" sz="2000" b="1" i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number</a:t>
            </a:r>
            <a:r>
              <a:rPr lang="de-DE" sz="2000" b="1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!</a:t>
            </a:r>
          </a:p>
        </p:txBody>
      </p:sp>
      <p:cxnSp>
        <p:nvCxnSpPr>
          <p:cNvPr id="9" name="Gekrümmte Verbindung 8">
            <a:extLst>
              <a:ext uri="{FF2B5EF4-FFF2-40B4-BE49-F238E27FC236}">
                <a16:creationId xmlns:a16="http://schemas.microsoft.com/office/drawing/2014/main" id="{AD1A4152-9B63-C20E-B2ED-7A11337FFD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08753" y="3064159"/>
            <a:ext cx="1082466" cy="1071094"/>
          </a:xfrm>
          <a:prstGeom prst="curvedConnector3">
            <a:avLst>
              <a:gd name="adj1" fmla="val -75492"/>
            </a:avLst>
          </a:prstGeom>
          <a:ln w="38100"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69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446D7-8396-5D23-4A51-A645F944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2F51520-8A9C-1F9C-9864-F52D7C008019}"/>
              </a:ext>
            </a:extLst>
          </p:cNvPr>
          <p:cNvSpPr txBox="1"/>
          <p:nvPr/>
        </p:nvSpPr>
        <p:spPr>
          <a:xfrm>
            <a:off x="992322" y="1175335"/>
            <a:ext cx="4172480" cy="24959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dirty="0">
                <a:latin typeface="+mj-lt"/>
                <a:ea typeface="+mj-ea"/>
                <a:cs typeface="+mj-cs"/>
              </a:rPr>
              <a:t>How about some solutions?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b="1" dirty="0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b="1" dirty="0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b="1" dirty="0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1" dirty="0">
                <a:latin typeface="+mj-lt"/>
                <a:ea typeface="+mj-ea"/>
                <a:cs typeface="+mj-cs"/>
              </a:rPr>
              <a:t>(Do you ever find that your slides turn passive-aggressive?)</a:t>
            </a:r>
            <a:endParaRPr lang="en-US" sz="2500" i="1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Filmrolle und Filmklappe">
            <a:extLst>
              <a:ext uri="{FF2B5EF4-FFF2-40B4-BE49-F238E27FC236}">
                <a16:creationId xmlns:a16="http://schemas.microsoft.com/office/drawing/2014/main" id="{D140A51D-E041-B551-70F5-438C340A4F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06" r="30160" b="-2"/>
          <a:stretch>
            <a:fillRect/>
          </a:stretch>
        </p:blipFill>
        <p:spPr>
          <a:xfrm>
            <a:off x="6096000" y="-1"/>
            <a:ext cx="6096000" cy="685800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B33CDD2-C0CB-D8AD-886D-0ABC95A02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96001" y="-2"/>
            <a:ext cx="6096000" cy="6858001"/>
            <a:chOff x="-1" y="0"/>
            <a:chExt cx="7390263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7F47A2-1E11-C302-6F8E-F03239998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79677" y="2347416"/>
              <a:ext cx="1630908" cy="739026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47000">
                  <a:schemeClr val="accent2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AED115-5F26-CFFE-25B4-8CCB743BA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 flipV="1">
              <a:off x="-1919061" y="1919060"/>
              <a:ext cx="6854280" cy="3016159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47000">
                  <a:schemeClr val="accent2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B3032F8-FDD1-98F1-B20E-FB9CDF9EB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461657" y="4425055"/>
              <a:ext cx="2928605" cy="2432945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51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3619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D5908-84B9-150F-2D25-9E38347D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182FE59-8377-71F2-A41B-F41B2A2941ED}"/>
              </a:ext>
            </a:extLst>
          </p:cNvPr>
          <p:cNvSpPr/>
          <p:nvPr/>
        </p:nvSpPr>
        <p:spPr>
          <a:xfrm rot="4139722">
            <a:off x="6992046" y="2148640"/>
            <a:ext cx="1122745" cy="4246046"/>
          </a:xfrm>
          <a:prstGeom prst="ellipse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D3951FF-CA84-B74F-9AF6-827055E7B17F}"/>
              </a:ext>
            </a:extLst>
          </p:cNvPr>
          <p:cNvSpPr txBox="1"/>
          <p:nvPr/>
        </p:nvSpPr>
        <p:spPr>
          <a:xfrm>
            <a:off x="3356661" y="1924780"/>
            <a:ext cx="518545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>
                <a:solidFill>
                  <a:schemeClr val="bg1"/>
                </a:solidFill>
              </a:rPr>
              <a:t>Why </a:t>
            </a:r>
            <a:r>
              <a:rPr lang="de-DE" sz="4400" b="1" dirty="0" err="1">
                <a:solidFill>
                  <a:schemeClr val="bg1"/>
                </a:solidFill>
              </a:rPr>
              <a:t>don't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you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try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doing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something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you're</a:t>
            </a:r>
            <a:r>
              <a:rPr lang="de-DE" sz="4400" b="1" dirty="0">
                <a:solidFill>
                  <a:schemeClr val="bg1"/>
                </a:solidFill>
              </a:rPr>
              <a:t> </a:t>
            </a:r>
            <a:r>
              <a:rPr lang="de-DE" sz="4400" b="1" dirty="0" err="1">
                <a:solidFill>
                  <a:schemeClr val="bg1"/>
                </a:solidFill>
              </a:rPr>
              <a:t>really</a:t>
            </a:r>
            <a:r>
              <a:rPr lang="de-DE" sz="4400" b="1" dirty="0">
                <a:solidFill>
                  <a:schemeClr val="bg1"/>
                </a:solidFill>
              </a:rPr>
              <a:t> not </a:t>
            </a:r>
            <a:r>
              <a:rPr lang="de-DE" sz="4400" b="1" dirty="0" err="1">
                <a:solidFill>
                  <a:schemeClr val="bg1"/>
                </a:solidFill>
              </a:rPr>
              <a:t>good</a:t>
            </a:r>
            <a:r>
              <a:rPr lang="de-DE" sz="4400" b="1" dirty="0">
                <a:solidFill>
                  <a:schemeClr val="bg1"/>
                </a:solidFill>
              </a:rPr>
              <a:t> at?</a:t>
            </a:r>
            <a:endParaRPr lang="de-DE" sz="2000" i="1" dirty="0">
              <a:solidFill>
                <a:schemeClr val="bg1"/>
              </a:solidFill>
            </a:endParaRPr>
          </a:p>
        </p:txBody>
      </p:sp>
      <p:sp>
        <p:nvSpPr>
          <p:cNvPr id="7" name="Eckige Klammer links 6">
            <a:extLst>
              <a:ext uri="{FF2B5EF4-FFF2-40B4-BE49-F238E27FC236}">
                <a16:creationId xmlns:a16="http://schemas.microsoft.com/office/drawing/2014/main" id="{97559647-E01B-0321-12CF-48E4C4A89A6C}"/>
              </a:ext>
            </a:extLst>
          </p:cNvPr>
          <p:cNvSpPr/>
          <p:nvPr/>
        </p:nvSpPr>
        <p:spPr>
          <a:xfrm rot="16200000">
            <a:off x="5907338" y="-2391712"/>
            <a:ext cx="181519" cy="5088042"/>
          </a:xfrm>
          <a:prstGeom prst="leftBracket">
            <a:avLst/>
          </a:prstGeom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580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42863E-A0A3-B946-7352-6EB702F7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6B2449-FF07-47FC-AA19-DB68D98F3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94261F-1ED3-4E90-88E6-134791440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716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F901BA3-9E46-62C8-20C9-010D39E53577}"/>
              </a:ext>
            </a:extLst>
          </p:cNvPr>
          <p:cNvSpPr txBox="1"/>
          <p:nvPr/>
        </p:nvSpPr>
        <p:spPr>
          <a:xfrm>
            <a:off x="1578043" y="590062"/>
            <a:ext cx="5347266" cy="28389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Beginners want specific examples…</a:t>
            </a:r>
            <a:endParaRPr lang="en-US" sz="5600" i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6052961-5ADC-4465-9B95-E6D4A490D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3696" y="1606411"/>
            <a:ext cx="465456" cy="581432"/>
            <a:chOff x="653696" y="1606411"/>
            <a:chExt cx="465456" cy="581432"/>
          </a:xfrm>
          <a:solidFill>
            <a:srgbClr val="FFFFFF"/>
          </a:solidFill>
        </p:grpSpPr>
        <p:sp>
          <p:nvSpPr>
            <p:cNvPr id="13" name="Graphic 13">
              <a:extLst>
                <a:ext uri="{FF2B5EF4-FFF2-40B4-BE49-F238E27FC236}">
                  <a16:creationId xmlns:a16="http://schemas.microsoft.com/office/drawing/2014/main" id="{C5CB530E-515E-412C-9DF1-5F8FFBD6F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9236" y="1606411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712D4376-A578-4FF1-94FC-245E7A6A4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014" y="1835705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5" name="Graphic 15">
              <a:extLst>
                <a:ext uri="{FF2B5EF4-FFF2-40B4-BE49-F238E27FC236}">
                  <a16:creationId xmlns:a16="http://schemas.microsoft.com/office/drawing/2014/main" id="{AEA7509D-F04F-40CB-A0B3-EEF16499C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3696" y="2060130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5E4FFD46-1B91-4939-C0BE-CB2A4BDA8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411" y="689277"/>
            <a:ext cx="3997583" cy="547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875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B8265-7E2A-6BE2-A953-6768FE8E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9045B9A-98BE-B127-B3E8-ABFE8F657CA5}"/>
              </a:ext>
            </a:extLst>
          </p:cNvPr>
          <p:cNvSpPr txBox="1"/>
          <p:nvPr/>
        </p:nvSpPr>
        <p:spPr>
          <a:xfrm>
            <a:off x="8079978" y="604756"/>
            <a:ext cx="3369234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+mj-lt"/>
                <a:ea typeface="+mj-ea"/>
                <a:cs typeface="+mj-cs"/>
              </a:rPr>
              <a:t>Proverbs give structure to the day!</a:t>
            </a:r>
            <a:endParaRPr lang="en-US" sz="3200" b="1" i="1" dirty="0">
              <a:latin typeface="+mj-lt"/>
              <a:ea typeface="+mj-ea"/>
              <a:cs typeface="+mj-cs"/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E6BE3740-F238-CA5F-4E24-EE52EF22B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12" r="27073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D7A212C-3440-1C25-1B8D-6DFE4F5BF126}"/>
              </a:ext>
            </a:extLst>
          </p:cNvPr>
          <p:cNvSpPr txBox="1"/>
          <p:nvPr/>
        </p:nvSpPr>
        <p:spPr>
          <a:xfrm>
            <a:off x="8079978" y="2533476"/>
            <a:ext cx="336923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000" b="1" i="1" dirty="0"/>
              <a:t>The mean always wears trousers!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460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5BE10-BEF6-5CF2-F08A-123ACAE7D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27672E5-54C9-B67C-C953-50D627E9CD57}"/>
              </a:ext>
            </a:extLst>
          </p:cNvPr>
          <p:cNvSpPr txBox="1"/>
          <p:nvPr/>
        </p:nvSpPr>
        <p:spPr>
          <a:xfrm>
            <a:off x="3880430" y="583345"/>
            <a:ext cx="7160357" cy="416482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Once upon a time…</a:t>
            </a:r>
            <a:endParaRPr lang="en-US" sz="5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6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6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Tell a story whenever you can.</a:t>
            </a:r>
            <a:endParaRPr lang="en-US" sz="5600" i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381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8D9C3-A658-5423-9299-DB22C89B9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6176824-7946-6969-3841-DD5C101D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675077-BFF1-36B0-EA6D-B4599DBA7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637796C-75D6-BAA5-036C-0E9E7F85B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BFBD50A-DBB5-04FA-45B9-183C84E4C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659E1E-0E9F-DC4F-40A9-CFA17EDF7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8217318" y="7059"/>
              <a:ext cx="3974283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4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1BE21CCA-F2E5-0D48-9C59-934379EC73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0" r="1" b="13507"/>
          <a:stretch>
            <a:fillRect/>
          </a:stretch>
        </p:blipFill>
        <p:spPr>
          <a:xfrm>
            <a:off x="122716" y="115738"/>
            <a:ext cx="11938653" cy="661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60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452AB-FCD8-6E90-E17C-E1018C6A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leichschenkliges Dreieck 1">
            <a:extLst>
              <a:ext uri="{FF2B5EF4-FFF2-40B4-BE49-F238E27FC236}">
                <a16:creationId xmlns:a16="http://schemas.microsoft.com/office/drawing/2014/main" id="{F59CE9F5-500E-07BF-801B-4CD60A5819F0}"/>
              </a:ext>
            </a:extLst>
          </p:cNvPr>
          <p:cNvSpPr/>
          <p:nvPr/>
        </p:nvSpPr>
        <p:spPr>
          <a:xfrm rot="16200000">
            <a:off x="5630921" y="884817"/>
            <a:ext cx="895047" cy="4854905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8019AB6-5521-597E-55DB-2995782E9DF2}"/>
              </a:ext>
            </a:extLst>
          </p:cNvPr>
          <p:cNvSpPr txBox="1"/>
          <p:nvPr/>
        </p:nvSpPr>
        <p:spPr>
          <a:xfrm>
            <a:off x="3700778" y="3742035"/>
            <a:ext cx="169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i="1" noProof="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concrete</a:t>
            </a:r>
            <a:endParaRPr lang="en-GB" sz="2400" i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830C4F7-7B8A-8180-7E4E-DD52F3217AB4}"/>
              </a:ext>
            </a:extLst>
          </p:cNvPr>
          <p:cNvSpPr txBox="1"/>
          <p:nvPr/>
        </p:nvSpPr>
        <p:spPr>
          <a:xfrm>
            <a:off x="7890132" y="3742035"/>
            <a:ext cx="169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i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abstract</a:t>
            </a:r>
            <a:endParaRPr lang="en-GB" sz="2400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C6DE6EC-C8D1-9A78-FAA8-ADB86FA0B0E6}"/>
              </a:ext>
            </a:extLst>
          </p:cNvPr>
          <p:cNvSpPr txBox="1"/>
          <p:nvPr/>
        </p:nvSpPr>
        <p:spPr>
          <a:xfrm>
            <a:off x="3650991" y="2403081"/>
            <a:ext cx="169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novice</a:t>
            </a:r>
            <a:endParaRPr lang="en-GB" sz="2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4ECBD83-1DB8-085C-6EAF-6694279FA505}"/>
              </a:ext>
            </a:extLst>
          </p:cNvPr>
          <p:cNvSpPr txBox="1"/>
          <p:nvPr/>
        </p:nvSpPr>
        <p:spPr>
          <a:xfrm>
            <a:off x="7873384" y="2420921"/>
            <a:ext cx="1694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expert</a:t>
            </a:r>
            <a:endParaRPr lang="en-GB" sz="24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A7F06E1-5D43-4A06-9D59-96E43BADEA3D}"/>
              </a:ext>
            </a:extLst>
          </p:cNvPr>
          <p:cNvCxnSpPr>
            <a:cxnSpLocks/>
          </p:cNvCxnSpPr>
          <p:nvPr/>
        </p:nvCxnSpPr>
        <p:spPr>
          <a:xfrm>
            <a:off x="4823913" y="2651754"/>
            <a:ext cx="2901696" cy="0"/>
          </a:xfrm>
          <a:prstGeom prst="straightConnector1">
            <a:avLst/>
          </a:prstGeom>
          <a:ln w="66675"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54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16493-B4BE-11AC-05EF-B191234DC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6CD5460-D57A-5933-05E8-33E493DB3860}"/>
              </a:ext>
            </a:extLst>
          </p:cNvPr>
          <p:cNvSpPr/>
          <p:nvPr/>
        </p:nvSpPr>
        <p:spPr>
          <a:xfrm rot="1121156">
            <a:off x="2895761" y="2367171"/>
            <a:ext cx="6400478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de-DE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SCHNACK </a:t>
            </a:r>
          </a:p>
          <a:p>
            <a:pPr algn="ctr"/>
            <a:r>
              <a:rPr lang="de-DE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ABSTRAKT. </a:t>
            </a:r>
          </a:p>
        </p:txBody>
      </p:sp>
    </p:spTree>
    <p:extLst>
      <p:ext uri="{BB962C8B-B14F-4D97-AF65-F5344CB8AC3E}">
        <p14:creationId xmlns:p14="http://schemas.microsoft.com/office/powerpoint/2010/main" val="950919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b2087a2-aa00-459f-afbf-d31d677ab458">
      <Terms xmlns="http://schemas.microsoft.com/office/infopath/2007/PartnerControls"/>
    </lcf76f155ced4ddcb4097134ff3c332f>
    <TaxCatchAll xmlns="46e6d2b1-d0b4-41c7-b220-e565bb4fc6c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891C516DB217F44BBCB512C1F80D1F9" ma:contentTypeVersion="16" ma:contentTypeDescription="Ein neues Dokument erstellen." ma:contentTypeScope="" ma:versionID="9ff1013623793293257c40f8ba0bd5a5">
  <xsd:schema xmlns:xsd="http://www.w3.org/2001/XMLSchema" xmlns:xs="http://www.w3.org/2001/XMLSchema" xmlns:p="http://schemas.microsoft.com/office/2006/metadata/properties" xmlns:ns2="7b2087a2-aa00-459f-afbf-d31d677ab458" xmlns:ns3="46e6d2b1-d0b4-41c7-b220-e565bb4fc6c5" targetNamespace="http://schemas.microsoft.com/office/2006/metadata/properties" ma:root="true" ma:fieldsID="c03ee18f4f76b67607e6bcc9fc33ceaf" ns2:_="" ns3:_="">
    <xsd:import namespace="7b2087a2-aa00-459f-afbf-d31d677ab458"/>
    <xsd:import namespace="46e6d2b1-d0b4-41c7-b220-e565bb4fc6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2087a2-aa00-459f-afbf-d31d677ab4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ildmarkierungen" ma:readOnly="false" ma:fieldId="{5cf76f15-5ced-4ddc-b409-7134ff3c332f}" ma:taxonomyMulti="true" ma:sspId="d2f3aa19-da7d-4521-bc4a-7ede8af266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d2b1-d0b4-41c7-b220-e565bb4fc6c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186b798-dc22-442e-ad11-a9857573c3ba}" ma:internalName="TaxCatchAll" ma:showField="CatchAllData" ma:web="46e6d2b1-d0b4-41c7-b220-e565bb4fc6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915D31-0063-48F2-812D-B2A832D8CC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A8A584-B229-498F-BE4C-F8B50D9DB5F1}">
  <ds:schemaRefs>
    <ds:schemaRef ds:uri="http://www.w3.org/XML/1998/namespace"/>
    <ds:schemaRef ds:uri="http://schemas.microsoft.com/office/infopath/2007/PartnerControls"/>
    <ds:schemaRef ds:uri="7b2087a2-aa00-459f-afbf-d31d677ab458"/>
    <ds:schemaRef ds:uri="http://purl.org/dc/elements/1.1/"/>
    <ds:schemaRef ds:uri="46e6d2b1-d0b4-41c7-b220-e565bb4fc6c5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A310655-5612-42EF-8CC8-A867C75297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2087a2-aa00-459f-afbf-d31d677ab458"/>
    <ds:schemaRef ds:uri="46e6d2b1-d0b4-41c7-b220-e565bb4fc6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130</Words>
  <Application>Microsoft Macintosh PowerPoint</Application>
  <PresentationFormat>Breitbild</PresentationFormat>
  <Paragraphs>39</Paragraphs>
  <Slides>14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Hochschule Osnabrueck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Rödenbeck, Leonie</dc:creator>
  <cp:lastModifiedBy>Kruppa-Scheetz, Jochen</cp:lastModifiedBy>
  <cp:revision>13</cp:revision>
  <dcterms:created xsi:type="dcterms:W3CDTF">2025-09-24T11:16:14Z</dcterms:created>
  <dcterms:modified xsi:type="dcterms:W3CDTF">2026-05-19T17:49:55Z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0x0101009891C516DB217F44BBCB512C1F80D1F9</vt:lpwstr>
  </property>
  <property fmtid="{D5CDD505-2E9C-101B-9397-08002B2CF9AE}" pid="3" name="MediaServiceImageTags">
    <vt:lpwstr/>
  </property>
</Properties>
</file>